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architecture overview for the Azure KB Agent. This presentation covers the key components, deployment strategy, and performance characteristics of the system. IMPORTANT: Mention that we use managed identity everywhere — no secrets in code.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that all services communicate via managed identity. No connection strings or API keys are stored in application code. The Container Apps use DefaultAzureCredential for authentication. Cosmos DB uses native RBAC with Built-in Data Contributor role.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shows the data flow from HTML ingestion through conversion (MarkItDown), indexing (AI Search), to the agent query path. Key point: the conversion pipeline supports three backends — Content Understanding, Mistral Document AI, and MarkItDown.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MarkItDown backend is the most cost-effective option. The PDF row is for this spike — we are evaluating whether MarkItDown can handle PDF input directly with acceptable quality.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chart shows that MarkItDown is 10x faster than cloud-based alternatives for text extraction. Image description time is the same across all backends since they all use GPT-4.1 vision.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Azure KB Agent Architecture</a:t>
            </a:r>
          </a:p>
        </p:txBody>
      </p:sp>
      <p:sp>
        <p:nvSpPr>
          <p:cNvPr id="3" name="Subtitle 2"/>
          <p:cNvSpPr>
            <a:spLocks noGrp="1"/>
          </p:cNvSpPr>
          <p:nvPr>
            <p:ph type="subTitle" idx="1"/>
          </p:nvPr>
        </p:nvSpPr>
        <p:spPr/>
        <p:txBody>
          <a:bodyPr/>
          <a:lstStyle/>
          <a:p>
            <a:r>
              <a:t>PDF/PPTX Conversion Quality Spike</a:t>
            </a:r>
          </a:p>
          <a:p>
            <a:r>
              <a:t>March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Components</a:t>
            </a:r>
          </a:p>
        </p:txBody>
      </p:sp>
      <p:sp>
        <p:nvSpPr>
          <p:cNvPr id="3" name="Content Placeholder 2"/>
          <p:cNvSpPr>
            <a:spLocks noGrp="1"/>
          </p:cNvSpPr>
          <p:nvPr>
            <p:ph idx="1"/>
          </p:nvPr>
        </p:nvSpPr>
        <p:spPr/>
        <p:txBody>
          <a:bodyPr/>
          <a:lstStyle/>
          <a:p>
            <a:r>
              <a:t>Core Services</a:t>
            </a:r>
          </a:p>
          <a:p>
            <a:pPr lvl="1"/>
            <a:r>
              <a:t>Azure AI Search — hybrid vector + keyword retrieval</a:t>
            </a:r>
          </a:p>
          <a:p>
            <a:pPr lvl="1"/>
            <a:r>
              <a:t>Azure OpenAI — GPT-4.1 for generation and vision</a:t>
            </a:r>
          </a:p>
          <a:p>
            <a:pPr lvl="1"/>
            <a:r>
              <a:t>Azure Blob Storage — KB article staging and serving</a:t>
            </a:r>
          </a:p>
          <a:p>
            <a:pPr lvl="1"/>
            <a:r>
              <a:t>Azure Container Apps — serverless hosting</a:t>
            </a:r>
          </a:p>
          <a:p>
            <a:pPr lvl="1"/>
            <a:r>
              <a:t>Azure Cosmos DB — conversation memory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 Diagram</a:t>
            </a:r>
          </a:p>
        </p:txBody>
      </p:sp>
      <p:pic>
        <p:nvPicPr>
          <p:cNvPr id="3" name="Picture 2" descr="slide-diagram.png"/>
          <p:cNvPicPr>
            <a:picLocks noChangeAspect="1"/>
          </p:cNvPicPr>
          <p:nvPr/>
        </p:nvPicPr>
        <p:blipFill>
          <a:blip r:embed="rId2"/>
          <a:stretch>
            <a:fillRect/>
          </a:stretch>
        </p:blipFill>
        <p:spPr>
          <a:xfrm>
            <a:off x="1828800" y="1828800"/>
            <a:ext cx="8229600" cy="41148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Conversion Backend Comparison</a:t>
            </a:r>
          </a:p>
        </p:txBody>
      </p:sp>
      <p:graphicFrame>
        <p:nvGraphicFramePr>
          <p:cNvPr id="3" name="Table 2"/>
          <p:cNvGraphicFramePr>
            <a:graphicFrameLocks noGrp="1"/>
          </p:cNvGraphicFramePr>
          <p:nvPr/>
        </p:nvGraphicFramePr>
        <p:xfrm>
          <a:off x="914400" y="1828800"/>
          <a:ext cx="10058400" cy="3657600"/>
        </p:xfrm>
        <a:graphic>
          <a:graphicData uri="http://schemas.openxmlformats.org/drawingml/2006/table">
            <a:tbl>
              <a:tblPr firstRow="1" bandRow="1">
                <a:tableStyleId>{5C22544A-7EE6-4342-B048-85BDC9FD1C3A}</a:tableStyleId>
              </a:tblPr>
              <a:tblGrid>
                <a:gridCol w="2514600"/>
                <a:gridCol w="2514600"/>
                <a:gridCol w="2514600"/>
                <a:gridCol w="2514600"/>
              </a:tblGrid>
              <a:tr h="731520">
                <a:tc>
                  <a:txBody>
                    <a:bodyPr/>
                    <a:lstStyle/>
                    <a:p>
                      <a:r>
                        <a:t>Backend</a:t>
                      </a:r>
                    </a:p>
                  </a:txBody>
                  <a:tcPr/>
                </a:tc>
                <a:tc>
                  <a:txBody>
                    <a:bodyPr/>
                    <a:lstStyle/>
                    <a:p>
                      <a:r>
                        <a:t>API Calls</a:t>
                      </a:r>
                    </a:p>
                  </a:txBody>
                  <a:tcPr/>
                </a:tc>
                <a:tc>
                  <a:txBody>
                    <a:bodyPr/>
                    <a:lstStyle/>
                    <a:p>
                      <a:r>
                        <a:t>Image Handling</a:t>
                      </a:r>
                    </a:p>
                  </a:txBody>
                  <a:tcPr/>
                </a:tc>
                <a:tc>
                  <a:txBody>
                    <a:bodyPr/>
                    <a:lstStyle/>
                    <a:p>
                      <a:r>
                        <a:t>Cost</a:t>
                      </a:r>
                    </a:p>
                  </a:txBody>
                  <a:tcPr/>
                </a:tc>
              </a:tr>
              <a:tr h="731520">
                <a:tc>
                  <a:txBody>
                    <a:bodyPr/>
                    <a:lstStyle/>
                    <a:p>
                      <a:r>
                        <a:t>Content Understanding</a:t>
                      </a:r>
                    </a:p>
                  </a:txBody>
                  <a:tcPr/>
                </a:tc>
                <a:tc>
                  <a:txBody>
                    <a:bodyPr/>
                    <a:lstStyle/>
                    <a:p>
                      <a:r>
                        <a:t>CU API</a:t>
                      </a:r>
                    </a:p>
                  </a:txBody>
                  <a:tcPr/>
                </a:tc>
                <a:tc>
                  <a:txBody>
                    <a:bodyPr/>
                    <a:lstStyle/>
                    <a:p>
                      <a:r>
                        <a:t>CU Analyzer</a:t>
                      </a:r>
                    </a:p>
                  </a:txBody>
                  <a:tcPr/>
                </a:tc>
                <a:tc>
                  <a:txBody>
                    <a:bodyPr/>
                    <a:lstStyle/>
                    <a:p>
                      <a:r>
                        <a:t>CU + GPT-4.1</a:t>
                      </a:r>
                    </a:p>
                  </a:txBody>
                  <a:tcPr/>
                </a:tc>
              </a:tr>
              <a:tr h="731520">
                <a:tc>
                  <a:txBody>
                    <a:bodyPr/>
                    <a:lstStyle/>
                    <a:p>
                      <a:r>
                        <a:t>Mistral Document AI</a:t>
                      </a:r>
                    </a:p>
                  </a:txBody>
                  <a:tcPr/>
                </a:tc>
                <a:tc>
                  <a:txBody>
                    <a:bodyPr/>
                    <a:lstStyle/>
                    <a:p>
                      <a:r>
                        <a:t>Mistral OCR</a:t>
                      </a:r>
                    </a:p>
                  </a:txBody>
                  <a:tcPr/>
                </a:tc>
                <a:tc>
                  <a:txBody>
                    <a:bodyPr/>
                    <a:lstStyle/>
                    <a:p>
                      <a:r>
                        <a:t>GPT-4.1 Vision</a:t>
                      </a:r>
                    </a:p>
                  </a:txBody>
                  <a:tcPr/>
                </a:tc>
                <a:tc>
                  <a:txBody>
                    <a:bodyPr/>
                    <a:lstStyle/>
                    <a:p>
                      <a:r>
                        <a:t>Mistral + GPT-4.1</a:t>
                      </a:r>
                    </a:p>
                  </a:txBody>
                  <a:tcPr/>
                </a:tc>
              </a:tr>
              <a:tr h="731520">
                <a:tc>
                  <a:txBody>
                    <a:bodyPr/>
                    <a:lstStyle/>
                    <a:p>
                      <a:r>
                        <a:t>MarkItDown</a:t>
                      </a:r>
                    </a:p>
                  </a:txBody>
                  <a:tcPr/>
                </a:tc>
                <a:tc>
                  <a:txBody>
                    <a:bodyPr/>
                    <a:lstStyle/>
                    <a:p>
                      <a:r>
                        <a:t>None (local)</a:t>
                      </a:r>
                    </a:p>
                  </a:txBody>
                  <a:tcPr/>
                </a:tc>
                <a:tc>
                  <a:txBody>
                    <a:bodyPr/>
                    <a:lstStyle/>
                    <a:p>
                      <a:r>
                        <a:t>GPT-4.1 Vision</a:t>
                      </a:r>
                    </a:p>
                  </a:txBody>
                  <a:tcPr/>
                </a:tc>
                <a:tc>
                  <a:txBody>
                    <a:bodyPr/>
                    <a:lstStyle/>
                    <a:p>
                      <a:r>
                        <a:t>GPT-4.1 only</a:t>
                      </a:r>
                    </a:p>
                  </a:txBody>
                  <a:tcPr/>
                </a:tc>
              </a:tr>
              <a:tr h="731520">
                <a:tc>
                  <a:txBody>
                    <a:bodyPr/>
                    <a:lstStyle/>
                    <a:p>
                      <a:r>
                        <a:t>MarkItDown + PDF</a:t>
                      </a:r>
                    </a:p>
                  </a:txBody>
                  <a:tcPr/>
                </a:tc>
                <a:tc>
                  <a:txBody>
                    <a:bodyPr/>
                    <a:lstStyle/>
                    <a:p>
                      <a:r>
                        <a:t>TBD</a:t>
                      </a:r>
                    </a:p>
                  </a:txBody>
                  <a:tcPr/>
                </a:tc>
                <a:tc>
                  <a:txBody>
                    <a:bodyPr/>
                    <a:lstStyle/>
                    <a:p>
                      <a:r>
                        <a:t>TBD</a:t>
                      </a:r>
                    </a:p>
                  </a:txBody>
                  <a:tcPr/>
                </a:tc>
                <a:tc>
                  <a:txBody>
                    <a:bodyPr/>
                    <a:lstStyle/>
                    <a:p>
                      <a:r>
                        <a:t>TBD</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Performance Results</a:t>
            </a:r>
          </a:p>
        </p:txBody>
      </p:sp>
      <p:pic>
        <p:nvPicPr>
          <p:cNvPr id="3" name="Picture 2" descr="slide-chart.png"/>
          <p:cNvPicPr>
            <a:picLocks noChangeAspect="1"/>
          </p:cNvPicPr>
          <p:nvPr/>
        </p:nvPicPr>
        <p:blipFill>
          <a:blip r:embed="rId2"/>
          <a:stretch>
            <a:fillRect/>
          </a:stretch>
        </p:blipFill>
        <p:spPr>
          <a:xfrm>
            <a:off x="2743200" y="1828800"/>
            <a:ext cx="6400800" cy="3657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